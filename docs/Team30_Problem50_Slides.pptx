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problem 50. We generalise the Funko-only CS229 reference report to six collectible categories and to dollar-price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the data is synthetic. Code accepts a real CSV with the same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models win partly because the synthetic generator is log-linear.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Collectible Merchandise Price Prediction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2F7"/>
                </a:solidFill>
              </a:rPr>
              <a:t>A machine-learning case study: predicting the resale price of trading cards, figures, comics, LEGO sets and memorabilia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UE24CS352A Machine Learning | Team 30 | Problem 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Reia S (PES2UG24CS921) and Ritesh Babu Reddy (PES2UG24CS403)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Problem: what should this item sell for?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Collectible prices span $10 to $30,000+ and depend on rarity, condition, age and demand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Task: predict the dollar resale price of a listing from its attributes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Useful when comparable transactions are scarce (new or unusual items)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Challenges: right-skewed prices, mixed feature types, rare 'grail' outliers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Reference: Lu (CS229, 2021) classified Funko Pop price bins; we generalise to six categories and regression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(synthetic, 1,200 listings)</a:t>
            </a:r>
            <a:endParaRPr lang="en-US" sz="2600" dirty="0"/>
          </a:p>
        </p:txBody>
      </p:sp>
      <p:pic>
        <p:nvPicPr>
          <p:cNvPr id="3" name="Image 0" descr="Price histogram and log price hist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120640" cy="176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9 features: product type, franchise, condition, rarity, age, edition size, search volume, graded, original packaging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6B20"/>
                </a:solidFill>
              </a:rPr>
              <a:t>Why synthetic?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4173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No licensed real-market data was available. Prices come from a latent log-linear model with a condition x rarity interaction, a vintage premium and heavy-tailed noise.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Linear models are favoured by construction, so results describe the methods, not the real market.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Approach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188720"/>
            <a:ext cx="1920240" cy="2468880"/>
          </a:xfrm>
          <a:prstGeom prst="rect">
            <a:avLst/>
          </a:prstGeom>
          <a:solidFill>
            <a:srgbClr val="EDF2F7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Preprocess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One-hot, ordinal and log transforms inside each CV pipeline (no leakage)</a:t>
            </a:r>
            <a:endParaRPr lang="en-US" sz="1400" dirty="0"/>
          </a:p>
        </p:txBody>
      </p:sp>
      <p:sp>
        <p:nvSpPr>
          <p:cNvPr id="6" name="card1"/>
          <p:cNvSpPr/>
          <p:nvPr/>
        </p:nvSpPr>
        <p:spPr>
          <a:xfrm>
            <a:off x="2542032" y="1188720"/>
            <a:ext cx="1920240" cy="2468880"/>
          </a:xfrm>
          <a:prstGeom prst="rect">
            <a:avLst/>
          </a:prstGeom>
          <a:solidFill>
            <a:srgbClr val="EDF2F7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33472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Target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178308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Predict log(price), map back with exp(): fits skewed prices</a:t>
            </a:r>
            <a:endParaRPr lang="en-US" sz="1400" dirty="0"/>
          </a:p>
        </p:txBody>
      </p:sp>
      <p:sp>
        <p:nvSpPr>
          <p:cNvPr id="9" name="card2"/>
          <p:cNvSpPr/>
          <p:nvPr/>
        </p:nvSpPr>
        <p:spPr>
          <a:xfrm>
            <a:off x="4626864" y="1188720"/>
            <a:ext cx="1920240" cy="2468880"/>
          </a:xfrm>
          <a:prstGeom prst="rect">
            <a:avLst/>
          </a:prstGeom>
          <a:solidFill>
            <a:srgbClr val="EDF2F7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8304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Models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178308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Baseline, linear, ridge, kNN, SVR, tree, bagging, forest, boosting</a:t>
            </a:r>
            <a:endParaRPr lang="en-US" sz="1400" dirty="0"/>
          </a:p>
        </p:txBody>
      </p:sp>
      <p:sp>
        <p:nvSpPr>
          <p:cNvPr id="12" name="card3"/>
          <p:cNvSpPr/>
          <p:nvPr/>
        </p:nvSpPr>
        <p:spPr>
          <a:xfrm>
            <a:off x="6711696" y="1188720"/>
            <a:ext cx="1920240" cy="2468880"/>
          </a:xfrm>
          <a:prstGeom prst="rect">
            <a:avLst/>
          </a:prstGeom>
          <a:solidFill>
            <a:srgbClr val="EDF2F7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03136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Evaluate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78308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5-fold CV x3; RMSE, R2, MAE, MedAPE, within-25% hit rate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Models compared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include it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Floor to beat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Linear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Linear, Ridge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Interpretable; natural for log prices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Kernel / instance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RBF-SVR, kNN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Non-linear, similarity-based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Trees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Decision tree, Bagging, Random Forest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Handle interactions; bagging cuts variance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Boosting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Usually strongest on tabular data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Results: validation error by model</a:t>
            </a:r>
            <a:endParaRPr lang="en-US" sz="2600" dirty="0"/>
          </a:p>
        </p:txBody>
      </p:sp>
      <p:pic>
        <p:nvPicPr>
          <p:cNvPr id="3" name="Image 0" descr="Train vs validation RMSE by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120640" cy="28080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Ridge best: RMSE 0.495, R2 0.79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44% of predictions within 25% of true price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Gradient boosting close behind (0.524)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Median baseline: 1.10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Trees: variance reduction helps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Single decision tree: RMSE 0.76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Bagged trees: 0.62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Random forest: 0.62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Trees still trail smooth log-linear models on this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kNN memorises: train RMSE 0.00 vs validation 0.64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drives price, and where the model fails</a:t>
            </a:r>
            <a:endParaRPr lang="en-US" sz="2600" dirty="0"/>
          </a:p>
        </p:txBody>
      </p:sp>
      <p:pic>
        <p:nvPicPr>
          <p:cNvPr id="3" name="Image 0" descr="Permutation impor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023360" cy="2973788"/>
          </a:xfrm>
          <a:prstGeom prst="rect">
            <a:avLst/>
          </a:prstGeom>
        </p:spPr>
      </p:pic>
      <p:pic>
        <p:nvPicPr>
          <p:cNvPr id="4" name="Image 1" descr="Predicted vs actual pr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3291840" cy="303862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Rarity, product type and edition size matter most. Top-10% items are under-predicted by about 42%: treat top-tier estimates as a floor.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 and future 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All models beat the median baseline; Ridge best with about 30% median error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Bagging and forests tame tree overfitting but trail log-linear models here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Predictions for rare, expensive items are biased low: heavy-tailed outliers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Next: real marketplace data, quantile regression for price ranges, listing-title text features, tuned boosting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 and repository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1A202C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src/demo.py --rarity ultra_rare --condition mint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--graded 1 --age_years 25 --edition_size 5000 --search_volume 2000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</a:rPr>
              <a:t>Prints price estimates from Ridge, Gradient Boosting and Random Forest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</a:rPr>
              <a:t>python src/run_experiments.py regenerates all metrics and figures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</a:rPr>
              <a:t>Private GitHub repo with README, shared with faculty and TAs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ectibles ML">
  <a:themeElements>
    <a:clrScheme name="Collectibles ML">
      <a:dk1>
        <a:srgbClr val="1A202C"/>
      </a:dk1>
      <a:lt1>
        <a:srgbClr val="FFFFFF"/>
      </a:lt1>
      <a:dk2>
        <a:srgbClr val="1A365D"/>
      </a:dk2>
      <a:lt2>
        <a:srgbClr val="EDF2F7"/>
      </a:lt2>
      <a:accent1>
        <a:srgbClr val="2B6CB0"/>
      </a:accent1>
      <a:accent2>
        <a:srgbClr val="DD6B20"/>
      </a:accent2>
      <a:accent3>
        <a:srgbClr val="A0AEC0"/>
      </a:accent3>
      <a:accent4>
        <a:srgbClr val="38A169"/>
      </a:accent4>
      <a:accent5>
        <a:srgbClr val="805AD5"/>
      </a:accent5>
      <a:accent6>
        <a:srgbClr val="E53E3E"/>
      </a:accent6>
      <a:hlink>
        <a:srgbClr val="2B6CB0"/>
      </a:hlink>
      <a:folHlink>
        <a:srgbClr val="805AD5"/>
      </a:folHlink>
    </a:clrScheme>
    <a:fontScheme name="Collectibles 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Collectible Merchandise Price Prediction - Team 30</dc:title>
  <dc:subject>PptxGenJS Presentation</dc:subject>
  <dc:creator>PptxGenJS</dc:creator>
  <cp:lastModifiedBy>PptxGenJS</cp:lastModifiedBy>
  <cp:revision>1</cp:revision>
  <dcterms:created xsi:type="dcterms:W3CDTF">2026-10-13T05:20:04Z</dcterms:created>
  <dcterms:modified xsi:type="dcterms:W3CDTF">2026-10-13T05:20:04Z</dcterms:modified>
</cp:coreProperties>
</file>